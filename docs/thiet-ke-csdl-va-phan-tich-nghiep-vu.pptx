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bdiagram.io/d/Quan-ly-nha-tro-ERD-chinh-thuc-6ad48e63e625619f4bbe645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ĐỒ ÁN HỌC PHẦN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Hệ thống quản lý nhà trọ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0704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284A63"/>
                </a:solidFill>
                <a:latin typeface="Arial"/>
              </a:defRPr>
            </a:pPr>
            <a:r>
              <a:t>PHÂN TÍCH YÊU CẦU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400" b="1">
                <a:solidFill>
                  <a:srgbClr val="284A63"/>
                </a:solidFill>
                <a:latin typeface="Arial"/>
              </a:defRPr>
            </a:pPr>
            <a:r>
              <a:t>VÀ THIẾT KẾ CƠ SỞ DỮ LIỆU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59636E"/>
                </a:solidFill>
                <a:latin typeface="Arial"/>
              </a:defRPr>
            </a:pPr>
            <a:r>
              <a:t>Kỹ năng lập trình nâng cao — N03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59636E"/>
                </a:solidFill>
                <a:latin typeface="Arial"/>
              </a:defRPr>
            </a:pPr>
            <a:r>
              <a:t>Nhóm: gehihi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Nguyễn Doãn Huy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73752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Phan Văn Hiếu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12664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Nguyễn Trần Tuấn Khôi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434840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Nie Phương Anh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873752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Trần Đức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312664"/>
            <a:ext cx="5303520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17212B"/>
                </a:solidFill>
                <a:latin typeface="Arial"/>
              </a:defRPr>
            </a:pPr>
            <a:r>
              <a:t>Nguyễn Quang Trung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Bài toán và phạm vi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Một chủ nhà quản lý nhiều khu và nhiều phòng.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Theo dõi người thuê, hợp đồng, chỉ số và các khoản phải thu.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Người thuê xem được căn cứ tính tiền và lịch sử thanh toán.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MVP: cho thuê → tính tiền → thu tiền → quyết toán; kèm xử lý sự cố.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Thanh toán ghi nhận thủ công; đặt phòng công khai, AI/IoT ngoài phạm vi.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Tác nhân và phân quyền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3931920"/>
              </a:tblGrid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Tác nhân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Được thực hiện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Giới hạn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Chủ nhà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Quản lý tài khoản, phân công, khu/phòng và tài chính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Toàn bộ hệ thống của chủ nhà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Nhân viên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STAFF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 hợp đồng, ghi chỉ số, lập hóa đơn, thu tiền, xử lý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được phân công; không quản trị tài khoản/quyền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Xem hợp đồng, hóa đơn đã phát hành, giao dịch; gửi và theo dõi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hợp đồng mình đại diện; không tự xác nhận thu tiền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2531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59636E"/>
                </a:solidFill>
                <a:latin typeface="Arial"/>
              </a:defRPr>
            </a:pPr>
            <a:r>
              <a:t>Thành viên ở cùng là hồ sơ cư trú; không mặc nhiên có quyền của người đại diện.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Chức năng quản lý và cho thuê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0"/>
                <a:gridCol w="2651760"/>
              </a:tblGrid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chức năng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 Case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Tác nhân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 tài khoản; cập nhật, khóa tài khoản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công nhân viên; thu hồi 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và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Tạo, cập nhật khu/phòng; ngừng khu; xóa phòng chưa có phụ thuộc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ADMIN; STAFF chỉ sửa phòng trong khu được giao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Tạo, cập nhật hồ sơ; tra cứu 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tạo/sửa; STAFF/TENANT xem theo phạm vi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Lập, tra cứu hợp đồng; cập nhật thành viên cư trú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STAFF; TENANT tra cứu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Chức năng tính tiền và vận hành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544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583680"/>
                <a:gridCol w="2834640"/>
              </a:tblGrid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chức năng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 Case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Tác nhân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Dịch vụ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Thiết lập đơn giá và ngưỡng cảnh báo theo khu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Ghi/sửa chỉ số cuối; kiểm tra cảnh báo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Lập/xóa nháp; phát hành; tra cứu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STAFF; TENANT xem bản phát hành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Thanh toán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Ghi nhận thanh toán; tra cứu công nợ; tổng hợp thu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STAFF; TENANT xem của mình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Trả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Chốt kỳ cuối; quyết toán; cấn cọc; xác định hoàn/thu thêm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Gửi yêu cầu; đính kèm ảnh; cập nhật, theo dõi tiến độ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 gửi; ADMIN / STAFF xử lý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Luồng lập và phát hành hóa đơn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Chọn hợp đồng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và kỳ</a:t>
            </a:r>
          </a:p>
        </p:txBody>
      </p:sp>
      <p:sp>
        <p:nvSpPr>
          <p:cNvPr id="10" name="Diamond 9"/>
          <p:cNvSpPr/>
          <p:nvPr/>
        </p:nvSpPr>
        <p:spPr>
          <a:xfrm>
            <a:off x="32004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Đủ dữ liệu,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chưa trùng kỳ?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9659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Tính tiền;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lưu hóa đơn nháp</a:t>
            </a:r>
          </a:p>
        </p:txBody>
      </p:sp>
      <p:sp>
        <p:nvSpPr>
          <p:cNvPr id="14" name="Diamond 13"/>
          <p:cNvSpPr/>
          <p:nvPr/>
        </p:nvSpPr>
        <p:spPr>
          <a:xfrm>
            <a:off x="91440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34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Còn cảnh báo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PENDING?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06440" y="196596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196596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95360" y="2286000"/>
            <a:ext cx="54864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200400" y="342900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3774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bổ sung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hoặc sửa dữ liệu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80560" y="2834640"/>
            <a:ext cx="0" cy="59436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572000" y="306324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0632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34290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474720"/>
            <a:ext cx="2377439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0">
                <a:solidFill>
                  <a:srgbClr val="17212B"/>
                </a:solidFill>
                <a:latin typeface="Arial"/>
              </a:defRPr>
            </a:pPr>
            <a:r>
              <a:t>Kiểm tra các cảnh báo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0">
                <a:solidFill>
                  <a:srgbClr val="17212B"/>
                </a:solidFill>
                <a:latin typeface="Arial"/>
              </a:defRPr>
            </a:pPr>
            <a:r>
              <a:t>Đúng: xác nhận hết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500" b="0">
                <a:solidFill>
                  <a:srgbClr val="17212B"/>
                </a:solidFill>
                <a:latin typeface="Arial"/>
              </a:defRPr>
            </a:pPr>
            <a:r>
              <a:t>Sai: xóa nháp, sửa số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2834640"/>
            <a:ext cx="0" cy="59436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0561320" y="306324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30632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sp>
        <p:nvSpPr>
          <p:cNvPr id="31" name="Diamond 30"/>
          <p:cNvSpPr/>
          <p:nvPr/>
        </p:nvSpPr>
        <p:spPr>
          <a:xfrm>
            <a:off x="6217920" y="4800600"/>
            <a:ext cx="2560320" cy="105156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4846320"/>
            <a:ext cx="2121408" cy="9601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Đã đến ngày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phát hành?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98348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5029200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Giữ nháp;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chờ ngày phát hành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98348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5029200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Phát hành ISSUED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Người thuê được xem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24160" y="1508760"/>
            <a:ext cx="0" cy="22860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424160" y="1508760"/>
            <a:ext cx="146304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200" y="1508760"/>
            <a:ext cx="0" cy="310896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498079" y="4617720"/>
            <a:ext cx="438912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98079" y="46177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698480" y="1271016"/>
            <a:ext cx="6858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0" y="1271016"/>
            <a:ext cx="685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406640" y="3794760"/>
            <a:ext cx="173736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406640" y="2651760"/>
            <a:ext cx="0" cy="114300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635240" y="3474720"/>
            <a:ext cx="100584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5240" y="347472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Sai: lập lại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4160" y="4389120"/>
            <a:ext cx="0" cy="22860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7498079" y="4617720"/>
            <a:ext cx="292608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98079" y="46177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561320" y="443484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61320" y="44348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Đúng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760720" y="5321808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760720" y="5029200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Chưa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778240" y="5321808"/>
            <a:ext cx="36576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778240" y="502920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240" y="5029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Rồi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08076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0">
                <a:solidFill>
                  <a:srgbClr val="59636E"/>
                </a:solidFill>
                <a:latin typeface="Arial"/>
              </a:defRPr>
            </a:pPr>
            <a:r>
              <a:t>Không đủ lịch sử hoặc trung bình = 0: không đánh giá tăng theo phần trăm.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Luồng quyết toán trả phòng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Chọn hợp đồng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và ngày trả</a:t>
            </a:r>
          </a:p>
        </p:txBody>
      </p:sp>
      <p:sp>
        <p:nvSpPr>
          <p:cNvPr id="10" name="Diamond 9"/>
          <p:cNvSpPr/>
          <p:nvPr/>
        </p:nvSpPr>
        <p:spPr>
          <a:xfrm>
            <a:off x="32004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50" b="0">
                <a:solidFill>
                  <a:srgbClr val="17212B"/>
                </a:solidFill>
                <a:latin typeface="Arial"/>
              </a:defRPr>
            </a:pPr>
            <a:r>
              <a:t>Có quyền, hợp lệ,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550" b="0">
                <a:solidFill>
                  <a:srgbClr val="17212B"/>
                </a:solidFill>
                <a:latin typeface="Arial"/>
              </a:defRPr>
            </a:pPr>
            <a:r>
              <a:t>chưa quyết toán?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9659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Chốt chỉ số;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hoàn tất các kỳ</a:t>
            </a:r>
          </a:p>
        </p:txBody>
      </p:sp>
      <p:sp>
        <p:nvSpPr>
          <p:cNvPr id="14" name="Diamond 13"/>
          <p:cNvSpPr/>
          <p:nvPr/>
        </p:nvSpPr>
        <p:spPr>
          <a:xfrm>
            <a:off x="91440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34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0">
                <a:solidFill>
                  <a:srgbClr val="17212B"/>
                </a:solidFill>
                <a:latin typeface="Arial"/>
              </a:defRPr>
            </a:pPr>
            <a:r>
              <a:t>Đủ hóa đơn ISSUED,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500" b="0">
                <a:solidFill>
                  <a:srgbClr val="17212B"/>
                </a:solidFill>
                <a:latin typeface="Arial"/>
              </a:defRPr>
            </a:pPr>
            <a:r>
              <a:t>khớp ngày/chỉ số?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60720" y="1965960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96596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95360" y="2286000"/>
            <a:ext cx="54864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200400" y="333756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79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thông báo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lý do cụ thể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33756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383279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bổ sung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hoặc kiểm tra lại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0" y="2834640"/>
            <a:ext cx="0" cy="50292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572000" y="301752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0175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2834640"/>
            <a:ext cx="0" cy="50292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0561320" y="301752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30175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3931920"/>
            <a:ext cx="2834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800" b="0">
                <a:solidFill>
                  <a:srgbClr val="17212B"/>
                </a:solidFill>
                <a:latin typeface="Arial"/>
              </a:defRPr>
            </a:pPr>
            <a:r>
              <a:t>Cọc − Thiệt hại − Nợ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704320" y="2286000"/>
            <a:ext cx="18288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887200" y="2286000"/>
            <a:ext cx="0" cy="193852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915400" y="4224528"/>
            <a:ext cx="29718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155680" y="3977639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0" y="3977639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66360" y="4681728"/>
            <a:ext cx="46634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57800" y="4727448"/>
            <a:ext cx="4480559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450" b="0">
                <a:solidFill>
                  <a:srgbClr val="17212B"/>
                </a:solidFill>
                <a:latin typeface="Arial"/>
              </a:defRPr>
            </a:pPr>
            <a:r>
              <a:t>Lưu quyết toán; cấn cọc; kết thúc hợp đồng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450" b="0">
                <a:solidFill>
                  <a:srgbClr val="17212B"/>
                </a:solidFill>
                <a:latin typeface="Arial"/>
              </a:defRPr>
            </a:pPr>
            <a:r>
              <a:t>Trong cùng một transaction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98079" y="4526280"/>
            <a:ext cx="0" cy="155448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94360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800" b="0">
                <a:solidFill>
                  <a:srgbClr val="17212B"/>
                </a:solidFill>
                <a:latin typeface="Arial"/>
              </a:defRPr>
            </a:pPr>
            <a:r>
              <a:t>Dương: hoàn tiền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59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Bằng 0: không hoàn / thu thêm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19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17212B"/>
                </a:solidFill>
                <a:latin typeface="Arial"/>
              </a:defRPr>
            </a:pPr>
            <a:r>
              <a:t>Âm: ghi nhận phải thu thêm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79" y="5276088"/>
            <a:ext cx="0" cy="10972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286000" y="5385816"/>
            <a:ext cx="5212079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86000" y="5385816"/>
            <a:ext cx="0" cy="100584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6080760" y="5385816"/>
            <a:ext cx="1417319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80760" y="5385816"/>
            <a:ext cx="0" cy="100584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98079" y="5385816"/>
            <a:ext cx="237744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875520" y="5385816"/>
            <a:ext cx="0" cy="100584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1520" y="6172200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50" b="0">
                <a:solidFill>
                  <a:srgbClr val="59636E"/>
                </a:solidFill>
                <a:latin typeface="Arial"/>
              </a:defRPr>
            </a:pPr>
            <a:r>
              <a:t>Còn PENDING thì dừng. Cấn cọc không phải tiền thu mới; phần nợ chưa trả vẫn được giữ lại.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Quy tắc nghiệp vụ chính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Khoảng cư trú [ngày vào, ngày ra): trả ngày 16 thì tính đến hết ngày 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Phí tháng tính theo ngày ở/ngày-người; điện nước tính chênh chỉ số.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28416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Đơn giá lấy tại đầu kỳ; một hợp đồng có tối đa một hóa đơn mỗi kỳ.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9664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Hóa đơn đã phát hành giữ nguyên; mỗi lần thu phải dương và không vượt nợ.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Cọc trừ thiệt hại, sau đó cấn công nợ; không trừ điện nước hai lần.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Mô hình dữ liệu: 17 bảng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dữ liệu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 bảng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 và 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users, employee_assignments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và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properties, rooms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 và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tenant_profiles, contracts, contract_members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Dịch vụ và 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service_items, service_price_configs, meter_readings, consumption_alerts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Hóa đơn và quyết toán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invoices, invoice_items, payment_transactions, checkout_records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Sự cố và ảnh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maintenance_requests, maintenance_images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khu nhà, người thuê và hợp đồng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UQ  property_code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rooms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property_id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room_code; max_occupants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room_id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primary_tenant_id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start_date; end_date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41605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58200" y="41605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42153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tenant_profiles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5994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9194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user_id (tùy chọn)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52395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full_name; identity_number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41605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1605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2153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contract_members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5994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2395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tenant_id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55595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effective_from; effective_to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9875520" y="3566160"/>
            <a:ext cx="0" cy="59436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875520" y="356616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875520" y="338328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966960" y="363474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0" y="36347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60920" y="48006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452360" y="44988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52360" y="44988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509760" y="3383280"/>
            <a:ext cx="0" cy="38404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5943600" y="3767328"/>
            <a:ext cx="356616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943600" y="3767328"/>
            <a:ext cx="0" cy="393192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132320" y="350215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0" y="35021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080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59636E"/>
                </a:solidFill>
                <a:latin typeface="Arial"/>
              </a:defRPr>
            </a:pPr>
            <a:r>
              <a:t>Một người thuê dùng lại hồ sơ qua nhiều lần cư trú; không chép họ tên vào bảng thành viên.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đơn giá, chỉ số và cảnh báo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ngưỡng; cửa sổ lịch sử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50" b="1">
                <a:solidFill>
                  <a:srgbClr val="17212B"/>
                </a:solidFill>
                <a:latin typeface="Arial"/>
              </a:defRPr>
            </a:pPr>
            <a:r>
              <a:t>service_price_configs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property_id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service_item_id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effective_from; unit_price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service_items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UQ  service_code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calculation_type; unit_name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114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room_id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4114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meter_readings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contract_id; service_item_id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billing_period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513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old_index; new_index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4114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consumption_alerts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meter_reading_id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baseline; ngưỡng áp dụng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5513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status; checked_by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29000" y="4754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3520439" y="4453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20439" y="4453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60920" y="4754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452360" y="4453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52360" y="4453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0..1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875520" y="3063239"/>
            <a:ext cx="0" cy="6400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943600" y="3703320"/>
            <a:ext cx="393192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943600" y="3703320"/>
            <a:ext cx="0" cy="4114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498079" y="345643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79" y="345643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hóa đơn, giao dịch và quyết toán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giá thuê; cọc thỏa thuận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invoices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billing_period;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invoice_items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id; FK  invoice_id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service_item_id (NULL)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meter_reading_id (NULL)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giá snapshot; ngày/ngày-người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11480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checkout_records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contract_id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cọc / nợ snapshot; thiệt hại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411480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payment_transactions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invoice_id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amount; payment_method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4114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meter_readings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khóa khi đã dùng ở hóa đơn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011680" y="2743200"/>
            <a:ext cx="0" cy="118872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011680" y="393192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011680" y="39319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03120" y="329184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3120" y="32918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0..1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43600" y="3063239"/>
            <a:ext cx="0" cy="8686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943600" y="393192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943600" y="39319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035040" y="345186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34518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9875520" y="3566160"/>
            <a:ext cx="0" cy="54864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75520" y="356616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9875520" y="338328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9966960" y="3611879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66960" y="361187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0..1 : 0..1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59636E"/>
                </a:solidFill>
                <a:latin typeface="Arial"/>
              </a:defRPr>
            </a:pPr>
            <a:r>
              <a:t>Tổng tiền, đã thu, công nợ và số quyết toán được tính qua view từ dữ liệu gốc.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Thuộc tính và kiểu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029200"/>
              </a:tblGrid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Dữ liệu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Kiểu lựa chọn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Căn cứ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Khóa nội bộ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BIGINT IDENTITY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Liên kết ổn định bằng PK/FK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Tiền, đơn giá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NUMERIC(12,2)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Số thập phân chính xác; nợ snapshot: NUMERIC(14,2)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NUMERIC(10,2)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Có thể có phần thập phân; mới ≥ cũ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 thoại, giấy tờ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VARCHAR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Giữ số 0 đầu; không dùng làm phép tính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Ngày / thời điểm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DATE / TIMESTAMPTZ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biệt ngày nghiệp vụ và thời điểm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Kỳ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DATE ngày đầu tháng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Kiểu ngày hợp lệ; CHECK ngày = 1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Khóa và ràng buộc toàn vẹn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Cơ chế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Quy tắc được bảo vệ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PK + FK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Mọi bảng có định danh; không tham chiếu bản ghi không tồn tại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UNIQUE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trùng mã phòng trong khu, hóa đơn/kỳ hoặc mã giao dịch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CHECK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hợp lệ; mới ≥ cũ; ngày hợp lệ; trạng thái đúng tập giá trị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EXCLUDE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trùng khoảng thuê cùng phòng; cùng người không trùng khoảng trong một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Trigger + khóa hàng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thu vượt nợ; không sửa hóa đơn phát hành; kiểm tra liên bảng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Quan hệ và bảng trung gian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3749039"/>
              </a:tblGrid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Quan hệ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Ví dụ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Cách biểu diễn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0..1–0..1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khoản–hồ sơ; chỉ số–dòng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FK cho phép NULL + UNIQUE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1–0..1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Hợp đồng–quyết toán; chỉ số–cảnh báo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FK NOT NULL + UNIQUE ở bảng con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1–N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Khu–phòng; hợp đồng–hóa đơn; hóa đơn–giao dịch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FK ở phía nhiều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Nhân viên–khu nhà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employee_assignments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 theo thời gian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thuê–hợp đồng ở cùng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contract_members + khoảng cư trú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 có lịch sử giá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nhà–dịch vụ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service_price_configs + ngày hiệu lực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Chuẩn hóa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206240"/>
                <a:gridCol w="5120640"/>
              </a:tblGrid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Mức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Vấn đề cần tránh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Cách xử lý trong mô hình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Nhiều ảnh trong một cột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maintenance_images: mỗi dòng một ảnh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2NF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Thuộc tính phi khóa phụ thuộc một phần khóa ứng viên ghép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tenant_id chỉ là một phần khóa cư trú: họ tên lưu tại tenant_profiles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Phụ thuộc bắc cầu qua thuộc tính không phải siêu khóa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Sự cố chỉ lưu contract_id; suy ra room_id và property_id qua JOIN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Dữ liệu suy ra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Nhiều cột tổng hợp có thể cập nhật lệch nhau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Tính lượng dùng, thành tiền, công nợ và trạng thái qua view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Phụ thuộc dữ liệu và bảo toàn lịch sử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6309360"/>
              </a:tblGrid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Phụ thuộc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Quyết định thiết kế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tenant_id → thông tin cá nhân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Bảng thành viên chỉ tham chiếu hồ sơ 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contract_id → room_id → property_id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và sự cố truy ra khu/phòng qua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mới − chỉ số cũ → lượng dùng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Tính lượng dùng; không nhập lại tại cảnh báo/hóa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Dòng hóa đơn + giao dịch → công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Một view tính tổng, đã thu và số còn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253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284A63"/>
                </a:solidFill>
                <a:latin typeface="Arial"/>
              </a:defRPr>
            </a:pPr>
            <a:r>
              <a:t>Snapshot tên, đơn vị, giá ghi nhận tại lúc lập hóa đơn; đổi danh mục không đổi hóa đơn cũ.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Đối chiếu nghiệp vụ và kiểm tra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023360"/>
                <a:gridCol w="4846320"/>
              </a:tblGrid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Nghiệp vụ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Dữ liệu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Tình huống đã kiểm tra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rooms, contracts, contract_members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Chồng thời gian; phòng bảo trì; vượt sức chứa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Lập/phát hành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meter_readings, invoices, invoice_items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Trùng kỳ; cảnh báo PENDING; sai chỉ số tham chiếu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Thu tiền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invoices, payment_transactions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âm; trùng giao dịch; thu vượt công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Trả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checkout_records và giao dịch cấn cọc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Snapshot trước cấn; không tính điện nước hai lần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Gửi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maintenance_requests, maintenance_images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Sai người gửi; sai người đính kèm; ảnh rỗng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Ví dụ hóa đơn và quyết toán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554480"/>
          <a:ext cx="10972800" cy="3236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931920"/>
                <a:gridCol w="2468880"/>
              </a:tblGrid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Khoản thu — ở đủ tháng 09/2026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Công thức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Thành tiền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3.000.000 × 30/30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3.000.000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(1.120 − 1.000) × 3.500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420.000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(128 − 120) × 20.000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160.000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Internet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100.000 × 30/30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100.000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Tổng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3.680.000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1">
                <a:solidFill>
                  <a:srgbClr val="17212B"/>
                </a:solidFill>
                <a:latin typeface="Arial"/>
              </a:defRPr>
            </a:pPr>
            <a:r>
              <a:t>Đã thu 2.000.000 đ → còn nợ 1.680.000 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284A63"/>
                </a:solidFill>
                <a:latin typeface="Arial"/>
              </a:defRPr>
            </a:pPr>
            <a:r>
              <a:t>Cọc 3.000.000 − thiệt hại 200.000 − nợ 1.680.000 = hoàn 1.120.000 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80760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50" b="0">
                <a:solidFill>
                  <a:srgbClr val="59636E"/>
                </a:solidFill>
                <a:latin typeface="Arial"/>
              </a:defRPr>
            </a:pPr>
            <a:r>
              <a:t>Minh họa: trả ngày 01/10/2026; các kỳ trước đã thanh toán, không có khoản nợ khác.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THÀNH VIÊN NHÓM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Phân công thực hiện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840480"/>
                <a:gridCol w="2286000"/>
                <a:gridCol w="1554480"/>
              </a:tblGrid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Họ tên — MSSV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Phần việc thực hiện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Minh chứng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Đóng góp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Nguyễn Doãn Huy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Phan Văn Hiếu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Nguyễn Trần Tuấn Khôi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Nie Phương Anh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Trần Đức Nguyên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Nguyễn Quang Trung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MSSV: 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5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800" b="1">
                <a:solidFill>
                  <a:srgbClr val="17212B"/>
                </a:solidFill>
                <a:latin typeface="Arial"/>
              </a:defRPr>
            </a:pPr>
            <a:r>
              <a:t>Tổng tỷ lệ đóng góp: …… / 100%.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PHỤ LỤC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yêu cầu sửa chữa và ảnh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primary_tenant_id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828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maintenance_requests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077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submitted_by; assigned_to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title; priority;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828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maintenance_images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maintenance_request_id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9077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uploaded_by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80" y="43891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3891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4439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users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8280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480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role; status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29000" y="2468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520439" y="2167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39" y="2167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60920" y="2468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452360" y="2167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167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5943600" y="3749039"/>
            <a:ext cx="0" cy="6400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943600" y="3749039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943600" y="3566160"/>
            <a:ext cx="0" cy="182879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035040" y="3840479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0" y="384047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60920" y="5029200"/>
            <a:ext cx="251460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875520" y="3566160"/>
            <a:ext cx="0" cy="146304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321040" y="473659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7365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59636E"/>
                </a:solidFill>
                <a:latin typeface="Arial"/>
              </a:defRPr>
            </a:pPr>
            <a:r>
              <a:t>Không lưu lại khu/phòng ở sự cố; mỗi ảnh có bản ghi và người đính kèm riêng.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PHỤ LỤC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tổng thể — 17 bảng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22</a:t>
            </a:r>
          </a:p>
        </p:txBody>
      </p:sp>
      <p:pic>
        <p:nvPicPr>
          <p:cNvPr id="8" name="Picture 7" descr="quanlytro-dbdiagram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61" y="1463040"/>
            <a:ext cx="9494476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14476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0">
                <a:solidFill>
                  <a:srgbClr val="284A63"/>
                </a:solidFill>
                <a:latin typeface="Arial"/>
              </a:defRPr>
            </a:pPr>
            <a:r>
              <a:rPr>
                <a:hlinkClick r:id="rId3"/>
              </a:rPr>
              <a:t>Xem đầy đủ và phóng to: dbdiagram.io — Quản lý nhà trọ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quản lý nhà trọ — Phân tích yêu cầu và thiết kế CSDL</dc:title>
  <dc:subject>Thiết kế mục tiêu 17 bảng — hồ sơ bước 1–2</dc:subject>
  <dc:creator>Nhóm thực hiện</dc:creator>
  <cp:keywords>quản lý nhà trọ, yêu cầu nghiệp vụ, ERD, chuẩn hóa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