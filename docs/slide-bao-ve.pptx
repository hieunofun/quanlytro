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81818"/>
                </a:solidFill>
                <a:latin typeface="Arial"/>
              </a:defRPr>
            </a:pPr>
            <a:r>
              <a:t>QUẢN LÝ NHÀ TRỌ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400"/>
              </a:spcAft>
              <a:defRPr sz="2300">
                <a:solidFill>
                  <a:srgbClr val="2C2C2C"/>
                </a:solidFill>
                <a:latin typeface="Arial"/>
              </a:defRPr>
            </a:pPr>
            <a:r>
              <a:t>• Hóa đơn minh bạch và cảnh báo tiêu thụ điện nước bất thường</a:t>
            </a:r>
          </a:p>
          <a:p>
            <a:pPr>
              <a:spcAft>
                <a:spcPts val="2400"/>
              </a:spcAft>
              <a:defRPr sz="2300">
                <a:solidFill>
                  <a:srgbClr val="2C2C2C"/>
                </a:solidFill>
                <a:latin typeface="Arial"/>
              </a:defRPr>
            </a:pPr>
            <a:r>
              <a:t>• Đồ án Java/Web · Spring Boot / React / PostgreSQL</a:t>
            </a:r>
          </a:p>
          <a:p>
            <a:pPr>
              <a:spcAft>
                <a:spcPts val="2400"/>
              </a:spcAft>
              <a:defRPr sz="2300">
                <a:solidFill>
                  <a:srgbClr val="2C2C2C"/>
                </a:solidFill>
                <a:latin typeface="Arial"/>
              </a:defRPr>
            </a:pPr>
            <a:r>
              <a:t>• Điền họ tên, MSSV, lớp và giảng viên trước khi nộp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30936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707070"/>
                </a:solidFill>
              </a:defRPr>
            </a:pPr>
            <a:r>
              <a:t>NHÀ TRỌ · ĐỒ ÁN JAVA/WEB                                                        01 / 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81818"/>
                </a:solidFill>
                <a:latin typeface="Arial"/>
              </a:defRPr>
            </a:pPr>
            <a:r>
              <a:t>Bài toán và người dùng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400"/>
              </a:spcAft>
              <a:defRPr sz="2300">
                <a:solidFill>
                  <a:srgbClr val="2C2C2C"/>
                </a:solidFill>
                <a:latin typeface="Arial"/>
              </a:defRPr>
            </a:pPr>
            <a:r>
              <a:t>• Chủ nhà: quản lý 1–3 khu, theo dõi phòng và công nợ</a:t>
            </a:r>
          </a:p>
          <a:p>
            <a:pPr>
              <a:spcAft>
                <a:spcPts val="2400"/>
              </a:spcAft>
              <a:defRPr sz="2300">
                <a:solidFill>
                  <a:srgbClr val="2C2C2C"/>
                </a:solidFill>
                <a:latin typeface="Arial"/>
              </a:defRPr>
            </a:pPr>
            <a:r>
              <a:t>• Nhân viên: chỉ truy cập khu được phân công</a:t>
            </a:r>
          </a:p>
          <a:p>
            <a:pPr>
              <a:spcAft>
                <a:spcPts val="2400"/>
              </a:spcAft>
              <a:defRPr sz="2300">
                <a:solidFill>
                  <a:srgbClr val="2C2C2C"/>
                </a:solidFill>
                <a:latin typeface="Arial"/>
              </a:defRPr>
            </a:pPr>
            <a:r>
              <a:t>• Người thuê: xem hợp đồng, công thức tính tiền, báo sự cố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30936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707070"/>
                </a:solidFill>
              </a:defRPr>
            </a:pPr>
            <a:r>
              <a:t>NHÀ TRỌ · ĐỒ ÁN JAVA/WEB                                                        02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81818"/>
                </a:solidFill>
                <a:latin typeface="Arial"/>
              </a:defRPr>
            </a:pPr>
            <a:r>
              <a:t>Kiến trúc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400"/>
              </a:spcAft>
              <a:defRPr sz="2300">
                <a:solidFill>
                  <a:srgbClr val="2C2C2C"/>
                </a:solidFill>
                <a:latin typeface="Arial"/>
              </a:defRPr>
            </a:pPr>
            <a:r>
              <a:t>• React → REST API → Spring Boot → PostgreSQL</a:t>
            </a:r>
          </a:p>
          <a:p>
            <a:pPr>
              <a:spcAft>
                <a:spcPts val="2400"/>
              </a:spcAft>
              <a:defRPr sz="2300">
                <a:solidFill>
                  <a:srgbClr val="2C2C2C"/>
                </a:solidFill>
                <a:latin typeface="Arial"/>
              </a:defRPr>
            </a:pPr>
            <a:r>
              <a:t>• Controller / DTO → Service → JPA Repository + JDBC</a:t>
            </a:r>
          </a:p>
          <a:p>
            <a:pPr>
              <a:spcAft>
                <a:spcPts val="2400"/>
              </a:spcAft>
              <a:defRPr sz="2300">
                <a:solidFill>
                  <a:srgbClr val="2C2C2C"/>
                </a:solidFill>
                <a:latin typeface="Arial"/>
              </a:defRPr>
            </a:pPr>
            <a:r>
              <a:t>• JWT và Access kiểm tra vai trò, phạm vi ở backend</a:t>
            </a:r>
          </a:p>
          <a:p>
            <a:pPr>
              <a:spcAft>
                <a:spcPts val="2400"/>
              </a:spcAft>
              <a:defRPr sz="2300">
                <a:solidFill>
                  <a:srgbClr val="2C2C2C"/>
                </a:solidFill>
                <a:latin typeface="Arial"/>
              </a:defRPr>
            </a:pPr>
            <a:r>
              <a:t>• Flyway quản lý schema; AOP đo thời gian; audit cùng transaction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30936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707070"/>
                </a:solidFill>
              </a:defRPr>
            </a:pPr>
            <a:r>
              <a:t>NHÀ TRỌ · ĐỒ ÁN JAVA/WEB                                                        03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81818"/>
                </a:solidFill>
                <a:latin typeface="Arial"/>
              </a:defRPr>
            </a:pPr>
            <a:r>
              <a:t>Luồng nghiệp vụ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400"/>
              </a:spcAft>
              <a:defRPr sz="2300">
                <a:solidFill>
                  <a:srgbClr val="2C2C2C"/>
                </a:solidFill>
                <a:latin typeface="Arial"/>
              </a:defRPr>
            </a:pPr>
            <a:r>
              <a:t>• Phòng → người thuê → hợp đồng và tiền cọc</a:t>
            </a:r>
          </a:p>
          <a:p>
            <a:pPr>
              <a:spcAft>
                <a:spcPts val="2400"/>
              </a:spcAft>
              <a:defRPr sz="2300">
                <a:solidFill>
                  <a:srgbClr val="2C2C2C"/>
                </a:solidFill>
                <a:latin typeface="Arial"/>
              </a:defRPr>
            </a:pPr>
            <a:r>
              <a:t>• Ghi chỉ số → kiểm tra cảnh báo → phát hành hóa đơn</a:t>
            </a:r>
          </a:p>
          <a:p>
            <a:pPr>
              <a:spcAft>
                <a:spcPts val="2400"/>
              </a:spcAft>
              <a:defRPr sz="2300">
                <a:solidFill>
                  <a:srgbClr val="2C2C2C"/>
                </a:solidFill>
                <a:latin typeface="Arial"/>
              </a:defRPr>
            </a:pPr>
            <a:r>
              <a:t>• Thanh toán nhiều lần → công nợ → trả phòng và cấn trừ cọc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30936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707070"/>
                </a:solidFill>
              </a:defRPr>
            </a:pPr>
            <a:r>
              <a:t>NHÀ TRỌ · ĐỒ ÁN JAVA/WEB                                                        04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81818"/>
                </a:solidFill>
                <a:latin typeface="Arial"/>
              </a:defRPr>
            </a:pPr>
            <a:r>
              <a:t>Hóa đơn minh bạch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400"/>
              </a:spcAft>
              <a:defRPr sz="2300">
                <a:solidFill>
                  <a:srgbClr val="2C2C2C"/>
                </a:solidFill>
                <a:latin typeface="Arial"/>
              </a:defRPr>
            </a:pPr>
            <a:r>
              <a:t>• Nước: (128 − 120) × 20.000 = 160.000 VND</a:t>
            </a:r>
          </a:p>
          <a:p>
            <a:pPr>
              <a:spcAft>
                <a:spcPts val="2400"/>
              </a:spcAft>
              <a:defRPr sz="2300">
                <a:solidFill>
                  <a:srgbClr val="2C2C2C"/>
                </a:solidFill>
                <a:latin typeface="Arial"/>
              </a:defRPr>
            </a:pPr>
            <a:r>
              <a:t>• Lưu snapshot đơn giá, chỉ số, lượng dùng và công thức</a:t>
            </a:r>
          </a:p>
          <a:p>
            <a:pPr>
              <a:spcAft>
                <a:spcPts val="2400"/>
              </a:spcAft>
              <a:defRPr sz="2300">
                <a:solidFill>
                  <a:srgbClr val="2C2C2C"/>
                </a:solidFill>
                <a:latin typeface="Arial"/>
              </a:defRPr>
            </a:pPr>
            <a:r>
              <a:t>• Tạo giá mới không làm thay đổi hóa đơn đã phát hành</a:t>
            </a:r>
          </a:p>
          <a:p>
            <a:pPr>
              <a:spcAft>
                <a:spcPts val="2400"/>
              </a:spcAft>
              <a:defRPr sz="2300">
                <a:solidFill>
                  <a:srgbClr val="2C2C2C"/>
                </a:solidFill>
                <a:latin typeface="Arial"/>
              </a:defRPr>
            </a:pPr>
            <a:r>
              <a:t>• Tiền phòng/dịch vụ chia theo ngày; dịch vụ đầu người dùng ngày-người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30936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707070"/>
                </a:solidFill>
              </a:defRPr>
            </a:pPr>
            <a:r>
              <a:t>NHÀ TRỌ · ĐỒ ÁN JAVA/WEB                                                        05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81818"/>
                </a:solidFill>
                <a:latin typeface="Arial"/>
              </a:defRPr>
            </a:pPr>
            <a:r>
              <a:t>Cảnh báo và sửa chỉ số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400"/>
              </a:spcAft>
              <a:defRPr sz="2300">
                <a:solidFill>
                  <a:srgbClr val="2C2C2C"/>
                </a:solidFill>
                <a:latin typeface="Arial"/>
              </a:defRPr>
            </a:pPr>
            <a:r>
              <a:t>• Lịch sử: 8, 9, 10 m³ → trung bình 9 m³</a:t>
            </a:r>
          </a:p>
          <a:p>
            <a:pPr>
              <a:spcAft>
                <a:spcPts val="2400"/>
              </a:spcAft>
              <a:defRPr sz="2300">
                <a:solidFill>
                  <a:srgbClr val="2C2C2C"/>
                </a:solidFill>
                <a:latin typeface="Arial"/>
              </a:defRPr>
            </a:pPr>
            <a:r>
              <a:t>• Kỳ mới: 27 m³ → tăng 200%, vượt ngưỡng 50%</a:t>
            </a:r>
          </a:p>
          <a:p>
            <a:pPr>
              <a:spcAft>
                <a:spcPts val="2400"/>
              </a:spcAft>
              <a:defRPr sz="2300">
                <a:solidFill>
                  <a:srgbClr val="2C2C2C"/>
                </a:solidFill>
                <a:latin typeface="Arial"/>
              </a:defRPr>
            </a:pPr>
            <a:r>
              <a:t>• Sửa 174 → 155: tiêu thụ còn 8 m³, lưu lịch sử sửa</a:t>
            </a:r>
          </a:p>
          <a:p>
            <a:pPr>
              <a:spcAft>
                <a:spcPts val="2400"/>
              </a:spcAft>
              <a:defRPr sz="2300">
                <a:solidFill>
                  <a:srgbClr val="2C2C2C"/>
                </a:solidFill>
                <a:latin typeface="Arial"/>
              </a:defRPr>
            </a:pPr>
            <a:r>
              <a:t>• Chặn phát hành khi cảnh báo còn chờ kiểm tra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30936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707070"/>
                </a:solidFill>
              </a:defRPr>
            </a:pPr>
            <a:r>
              <a:t>NHÀ TRỌ · ĐỒ ÁN JAVA/WEB                                                        06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81818"/>
                </a:solidFill>
                <a:latin typeface="Arial"/>
              </a:defRPr>
            </a:pPr>
            <a:r>
              <a:t>Transaction và bảo mật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400"/>
              </a:spcAft>
              <a:defRPr sz="2300">
                <a:solidFill>
                  <a:srgbClr val="2C2C2C"/>
                </a:solidFill>
                <a:latin typeface="Arial"/>
              </a:defRPr>
            </a:pPr>
            <a:r>
              <a:t>• Unique hóa đơn/hợp đồng/kỳ, exclusion constraint hợp đồng</a:t>
            </a:r>
          </a:p>
          <a:p>
            <a:pPr>
              <a:spcAft>
                <a:spcPts val="2400"/>
              </a:spcAft>
              <a:defRPr sz="2300">
                <a:solidFill>
                  <a:srgbClr val="2C2C2C"/>
                </a:solidFill>
                <a:latin typeface="Arial"/>
              </a:defRPr>
            </a:pPr>
            <a:r>
              <a:t>• Khóa hàng khi thu tiền; không thu vượt công nợ</a:t>
            </a:r>
          </a:p>
          <a:p>
            <a:pPr>
              <a:spcAft>
                <a:spcPts val="2400"/>
              </a:spcAft>
              <a:defRPr sz="2300">
                <a:solidFill>
                  <a:srgbClr val="2C2C2C"/>
                </a:solidFill>
                <a:latin typeface="Arial"/>
              </a:defRPr>
            </a:pPr>
            <a:r>
              <a:t>• JWT 30 phút, refresh xoay; logout/đổi mật khẩu thu hồi phiên</a:t>
            </a:r>
          </a:p>
          <a:p>
            <a:pPr>
              <a:spcAft>
                <a:spcPts val="2400"/>
              </a:spcAft>
              <a:defRPr sz="2300">
                <a:solidFill>
                  <a:srgbClr val="2C2C2C"/>
                </a:solidFill>
                <a:latin typeface="Arial"/>
              </a:defRPr>
            </a:pPr>
            <a:r>
              <a:t>• Sai 5 lần: khóa 15 phút; reset mã một lần do chủ nhà cấp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30936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707070"/>
                </a:solidFill>
              </a:defRPr>
            </a:pPr>
            <a:r>
              <a:t>NHÀ TRỌ · ĐỒ ÁN JAVA/WEB                                                        07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81818"/>
                </a:solidFill>
                <a:latin typeface="Arial"/>
              </a:defRPr>
            </a:pPr>
            <a:r>
              <a:t>Demo trên dữ liệu thật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400"/>
              </a:spcAft>
              <a:defRPr sz="2300">
                <a:solidFill>
                  <a:srgbClr val="2C2C2C"/>
                </a:solidFill>
                <a:latin typeface="Arial"/>
              </a:defRPr>
            </a:pPr>
            <a:r>
              <a:t>• Hóa đơn 09/2026: 3.690.000 VND</a:t>
            </a:r>
          </a:p>
          <a:p>
            <a:pPr>
              <a:spcAft>
                <a:spcPts val="2400"/>
              </a:spcAft>
              <a:defRPr sz="2300">
                <a:solidFill>
                  <a:srgbClr val="2C2C2C"/>
                </a:solidFill>
                <a:latin typeface="Arial"/>
              </a:defRPr>
            </a:pPr>
            <a:r>
              <a:t>• Ghi nhận 2.000.000 → còn nợ 1.690.000 VND</a:t>
            </a:r>
          </a:p>
          <a:p>
            <a:pPr>
              <a:spcAft>
                <a:spcPts val="2400"/>
              </a:spcAft>
              <a:defRPr sz="2300">
                <a:solidFill>
                  <a:srgbClr val="2C2C2C"/>
                </a:solidFill>
                <a:latin typeface="Arial"/>
              </a:defRPr>
            </a:pPr>
            <a:r>
              <a:t>• Đăng nhập người thuê để xem chi tiết</a:t>
            </a:r>
          </a:p>
          <a:p>
            <a:pPr>
              <a:spcAft>
                <a:spcPts val="2400"/>
              </a:spcAft>
              <a:defRPr sz="2300">
                <a:solidFill>
                  <a:srgbClr val="2C2C2C"/>
                </a:solidFill>
                <a:latin typeface="Arial"/>
              </a:defRPr>
            </a:pPr>
            <a:r>
              <a:t>• Thử hóa đơn trùng, đổi giá kỳ sau, kiểm tra quyền nhân viên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30936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707070"/>
                </a:solidFill>
              </a:defRPr>
            </a:pPr>
            <a:r>
              <a:t>NHÀ TRỌ · ĐỒ ÁN JAVA/WEB                                                        08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81818"/>
                </a:solidFill>
                <a:latin typeface="Arial"/>
              </a:defRPr>
            </a:pPr>
            <a:r>
              <a:t>Kiểm thử và bàn giao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400"/>
              </a:spcAft>
              <a:defRPr sz="2300">
                <a:solidFill>
                  <a:srgbClr val="2C2C2C"/>
                </a:solidFill>
                <a:latin typeface="Arial"/>
              </a:defRPr>
            </a:pPr>
            <a:r>
              <a:t>• JUnit + SpringBootTest trên PostgreSQL thật</a:t>
            </a:r>
          </a:p>
          <a:p>
            <a:pPr>
              <a:spcAft>
                <a:spcPts val="2400"/>
              </a:spcAft>
              <a:defRPr sz="2300">
                <a:solidFill>
                  <a:srgbClr val="2C2C2C"/>
                </a:solidFill>
                <a:latin typeface="Arial"/>
              </a:defRPr>
            </a:pPr>
            <a:r>
              <a:t>• HTTP tests: JWT, refresh, logout, khóa tài khoản, đổi mật khẩu</a:t>
            </a:r>
          </a:p>
          <a:p>
            <a:pPr>
              <a:spcAft>
                <a:spcPts val="2400"/>
              </a:spcAft>
              <a:defRPr sz="2300">
                <a:solidFill>
                  <a:srgbClr val="2C2C2C"/>
                </a:solidFill>
                <a:latin typeface="Arial"/>
              </a:defRPr>
            </a:pPr>
            <a:r>
              <a:t>• PDF tiếng Việt; trình duyệt desktop và 375 px</a:t>
            </a:r>
          </a:p>
          <a:p>
            <a:pPr>
              <a:spcAft>
                <a:spcPts val="2400"/>
              </a:spcAft>
              <a:defRPr sz="2300">
                <a:solidFill>
                  <a:srgbClr val="2C2C2C"/>
                </a:solidFill>
                <a:latin typeface="Arial"/>
              </a:defRPr>
            </a:pPr>
            <a:r>
              <a:t>• JAR, source ZIP, script demo, API, báo cáo và cấu hình Docker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30936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707070"/>
                </a:solidFill>
              </a:defRPr>
            </a:pPr>
            <a:r>
              <a:t>NHÀ TRỌ · ĐỒ ÁN JAVA/WEB                                                        09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81818"/>
                </a:solidFill>
                <a:latin typeface="Arial"/>
              </a:defRPr>
            </a:pPr>
            <a:r>
              <a:t>Giới hạn và hướng phát triển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400"/>
              </a:spcAft>
              <a:defRPr sz="2300">
                <a:solidFill>
                  <a:srgbClr val="2C2C2C"/>
                </a:solidFill>
                <a:latin typeface="Arial"/>
              </a:defRPr>
            </a:pPr>
            <a:r>
              <a:t>• Ảnh qua URL, chưa có kho upload; reset mã, chưa SMTP</a:t>
            </a:r>
          </a:p>
          <a:p>
            <a:pPr>
              <a:spcAft>
                <a:spcPts val="2400"/>
              </a:spcAft>
              <a:defRPr sz="2300">
                <a:solidFill>
                  <a:srgbClr val="2C2C2C"/>
                </a:solidFill>
                <a:latin typeface="Arial"/>
              </a:defRPr>
            </a:pPr>
            <a:r>
              <a:t>• Ngày chốt/phát hành là cấu hình vận hành, vẫn lập hóa đơn thủ công</a:t>
            </a:r>
          </a:p>
          <a:p>
            <a:pPr>
              <a:spcAft>
                <a:spcPts val="2400"/>
              </a:spcAft>
              <a:defRPr sz="2300">
                <a:solidFill>
                  <a:srgbClr val="2C2C2C"/>
                </a:solidFill>
                <a:latin typeface="Arial"/>
              </a:defRPr>
            </a:pPr>
            <a:r>
              <a:t>• Phân công theo khu; CSV/PDF, chưa XLSX; cần phân trang khi mở rộng</a:t>
            </a:r>
          </a:p>
          <a:p>
            <a:pPr>
              <a:spcAft>
                <a:spcPts val="2400"/>
              </a:spcAft>
              <a:defRPr sz="2300">
                <a:solidFill>
                  <a:srgbClr val="2C2C2C"/>
                </a:solidFill>
                <a:latin typeface="Arial"/>
              </a:defRPr>
            </a:pPr>
            <a:r>
              <a:t>• Mobile dùng lại API/database; ngân hàng, AI, IoT ngoài V1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30936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707070"/>
                </a:solidFill>
              </a:defRPr>
            </a:pPr>
            <a:r>
              <a:t>NHÀ TRỌ · ĐỒ ÁN JAVA/WEB                                                        10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