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ĐỒ ÁN HỌC PHẦN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Hệ thống quản lý nhà trọ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07040" cy="1234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400" b="1">
                <a:solidFill>
                  <a:srgbClr val="284A63"/>
                </a:solidFill>
                <a:latin typeface="Arial"/>
              </a:defRPr>
            </a:pPr>
            <a:r>
              <a:t>PHÂN TÍCH YÊU CẦU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400" b="1">
                <a:solidFill>
                  <a:srgbClr val="284A63"/>
                </a:solidFill>
                <a:latin typeface="Arial"/>
              </a:defRPr>
            </a:pPr>
            <a:r>
              <a:t>VÀ THIẾT KẾ CƠ SỞ 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>
                <a:solidFill>
                  <a:srgbClr val="17212B"/>
                </a:solidFill>
                <a:latin typeface="Arial"/>
              </a:defRPr>
            </a:pPr>
            <a:r>
              <a:t>Hợp đồng • Hóa đơn • Công nợ • Quyết toán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59636E"/>
                </a:solidFill>
                <a:latin typeface="Arial"/>
              </a:defRPr>
            </a:pPr>
            <a:r>
              <a:t>Kỹ năng lập trình nâng cao — N03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1900" b="0">
                <a:solidFill>
                  <a:srgbClr val="59636E"/>
                </a:solidFill>
                <a:latin typeface="Arial"/>
              </a:defRPr>
            </a:pPr>
            <a:r>
              <a:t>Nhóm: ………………………………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01  PHÂN TÍCH YÊU CẦU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Bài toán và phạm vi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200" b="0">
                <a:solidFill>
                  <a:srgbClr val="17212B"/>
                </a:solidFill>
                <a:latin typeface="Arial"/>
              </a:defRPr>
            </a:pPr>
            <a:r>
              <a:t>• Một chủ nhà quản lý nhiều khu và nhiều phòng.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200" b="0">
                <a:solidFill>
                  <a:srgbClr val="17212B"/>
                </a:solidFill>
                <a:latin typeface="Arial"/>
              </a:defRPr>
            </a:pPr>
            <a:r>
              <a:t>• Theo dõi người thuê, hợp đồng, chỉ số và các khoản phải thu.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200" b="0">
                <a:solidFill>
                  <a:srgbClr val="17212B"/>
                </a:solidFill>
                <a:latin typeface="Arial"/>
              </a:defRPr>
            </a:pPr>
            <a:r>
              <a:t>• Người thuê xem được căn cứ tính tiền và lịch sử thanh toán.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200" b="0">
                <a:solidFill>
                  <a:srgbClr val="17212B"/>
                </a:solidFill>
                <a:latin typeface="Arial"/>
              </a:defRPr>
            </a:pPr>
            <a:r>
              <a:t>• MVP: cho thuê → tính tiền → thu tiền → quyết toán; kèm xử lý sự cố.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200" b="0">
                <a:solidFill>
                  <a:srgbClr val="17212B"/>
                </a:solidFill>
                <a:latin typeface="Arial"/>
              </a:defRPr>
            </a:pPr>
            <a:r>
              <a:t>• Thanh toán ghi nhận thủ công; đặt phòng công khai, AI/IoT ngoài phạm vi.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01  PHÂN TÍCH YÊU CẦU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Tác nhân và phân quyền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80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212080"/>
                <a:gridCol w="3931920"/>
              </a:tblGrid>
              <a:tr h="1024128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Tác nhân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Được thực hiện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Giới hạn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Chủ nhà</a:t>
                      </a:r>
                    </a:p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ADMIN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Quản lý tài khoản, phân công, khu/phòng và tài chính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Toàn bộ hệ thống của chủ nhà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Nhân viên</a:t>
                      </a:r>
                    </a:p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STAFF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Lập hợp đồng, ghi chỉ số, lập hóa đơn, thu tiền, xử lý sự cố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Khu được phân công; không quản trị tài khoản/quyền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Người thuê</a:t>
                      </a:r>
                    </a:p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TENANT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Xem hợp đồng, hóa đơn, giao dịch; gửi và theo dõi sự cố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Chỉ hợp đồng mình đại diện; không tự xác nhận thu tiền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2531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59636E"/>
                </a:solidFill>
                <a:latin typeface="Arial"/>
              </a:defRPr>
            </a:pPr>
            <a:r>
              <a:t>Thành viên ở cùng là hồ sơ cư trú; không mặc nhiên có quyền của người đại diện.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01  PHÂN TÍCH YÊU CẦU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Chức năng quản lý và cho thuê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8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400800"/>
                <a:gridCol w="2651760"/>
              </a:tblGrid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Nhóm chức năng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 Case chính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Tác nhân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Tài khoản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Tạo tài khoản; cập nhật, khóa tài khoản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ADMIN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Phân công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Phân công nhân viên; thu hồi phân công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ADMIN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Khu và phòng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Tạo khu/phòng; cập nhật phòng; chuyển phòng bảo trì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ADMIN; STAFF theo quyền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Người thuê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Tạo, cập nhật hồ sơ; tra cứu người thuê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ADMIN; tra cứu có giới hạn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Hợp đồng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Lập, tra cứu hợp đồng; cập nhật thành viên cư trú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ADMIN / STAFF; TENANT tra cứu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01  PHÂN TÍCH YÊU CẦU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Chức năng tính tiền và vận hành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8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Nhóm chức năng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 Case chính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Dịch vụ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Thiết lập đơn giá và ngưỡng cảnh báo theo khu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Điện nước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Ghi chỉ số; sửa chỉ số cuối; kiểm tra cảnh báo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Hóa đơn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Lập nháp; xóa nháp; phát hành; tra cứu hóa đơn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Thanh toán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Ghi nhận thanh toán; tra cứu công nợ; tổng hợp tiền thu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Trả phòng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Chốt kỳ cuối; quyết toán; cấn cọc; xác định hoàn/thu thêm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Sự cố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Gửi yêu cầu; đính kèm ảnh; cập nhật và theo dõi tiến độ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01  PHÂN TÍCH YÊU CẦU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Luồng lập và phát hành hóa đơn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194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Chọn hợp đồng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và kỳ</a:t>
            </a:r>
          </a:p>
        </p:txBody>
      </p:sp>
      <p:sp>
        <p:nvSpPr>
          <p:cNvPr id="10" name="Diamond 9"/>
          <p:cNvSpPr/>
          <p:nvPr/>
        </p:nvSpPr>
        <p:spPr>
          <a:xfrm>
            <a:off x="3200400" y="1737360"/>
            <a:ext cx="2560320" cy="1097280"/>
          </a:xfrm>
          <a:prstGeom prst="diamond">
            <a:avLst/>
          </a:prstGeom>
          <a:solidFill>
            <a:srgbClr val="F0F3F5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783080"/>
            <a:ext cx="2121408" cy="10058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Đủ dữ liệu,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chưa trùng kỳ?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Tính tiền;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lưu hóa đơn nháp</a:t>
            </a:r>
          </a:p>
        </p:txBody>
      </p:sp>
      <p:sp>
        <p:nvSpPr>
          <p:cNvPr id="14" name="Diamond 13"/>
          <p:cNvSpPr/>
          <p:nvPr/>
        </p:nvSpPr>
        <p:spPr>
          <a:xfrm>
            <a:off x="9144000" y="1737360"/>
            <a:ext cx="2560320" cy="1097280"/>
          </a:xfrm>
          <a:prstGeom prst="diamond">
            <a:avLst/>
          </a:prstGeom>
          <a:solidFill>
            <a:srgbClr val="F0F3F5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1783080"/>
            <a:ext cx="2121408" cy="10058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Còn cảnh báo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PENDING?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286000"/>
            <a:ext cx="45720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2286000"/>
            <a:ext cx="45720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806440" y="1965960"/>
            <a:ext cx="3657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19659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Có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0" y="2286000"/>
            <a:ext cx="54864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200400" y="3429000"/>
            <a:ext cx="2560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474720"/>
            <a:ext cx="23774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Dừng; bổ sung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hoặc sửa dữ liệu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80560" y="2834640"/>
            <a:ext cx="0" cy="59436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72000" y="3063240"/>
            <a:ext cx="594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063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Không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342900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474720"/>
            <a:ext cx="2377439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Quản lý kiểm tra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Xác nhận / sửa chỉ số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424160" y="2834640"/>
            <a:ext cx="0" cy="59436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0561320" y="3063240"/>
            <a:ext cx="3657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61320" y="30632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Có</a:t>
            </a:r>
          </a:p>
        </p:txBody>
      </p:sp>
      <p:sp>
        <p:nvSpPr>
          <p:cNvPr id="31" name="Diamond 30"/>
          <p:cNvSpPr/>
          <p:nvPr/>
        </p:nvSpPr>
        <p:spPr>
          <a:xfrm>
            <a:off x="6217920" y="4800600"/>
            <a:ext cx="2560320" cy="1051560"/>
          </a:xfrm>
          <a:prstGeom prst="diamond">
            <a:avLst/>
          </a:prstGeom>
          <a:solidFill>
            <a:srgbClr val="F0F3F5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846320"/>
            <a:ext cx="2121408" cy="9601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Đã đến ngày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phát hành?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98348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5029200"/>
            <a:ext cx="2377439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Giữ nháp;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chờ ngày phát hành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98348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5029200"/>
            <a:ext cx="2377439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Phát hành ISSUED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Người thuê được xem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0424160" y="1508760"/>
            <a:ext cx="0" cy="22860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424160" y="1508760"/>
            <a:ext cx="146304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887200" y="1508760"/>
            <a:ext cx="0" cy="310896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498079" y="4617720"/>
            <a:ext cx="4389121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98079" y="4617720"/>
            <a:ext cx="0" cy="18288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0698480" y="1271016"/>
            <a:ext cx="6858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0" y="127101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Không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406640" y="3794760"/>
            <a:ext cx="173736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406640" y="2651760"/>
            <a:ext cx="0" cy="114300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5240" y="3474720"/>
            <a:ext cx="10058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5240" y="34747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Sai: lập lại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424160" y="4389120"/>
            <a:ext cx="0" cy="22860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498079" y="4617720"/>
            <a:ext cx="2926081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98079" y="4617720"/>
            <a:ext cx="0" cy="18288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0561320" y="4434840"/>
            <a:ext cx="594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61320" y="44348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Đúng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5760720" y="5321808"/>
            <a:ext cx="45720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760720" y="5029200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Chưa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778240" y="5321808"/>
            <a:ext cx="36576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8778240" y="5029200"/>
            <a:ext cx="3657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0" y="50292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Rồi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08076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59636E"/>
                </a:solidFill>
                <a:latin typeface="Arial"/>
              </a:defRPr>
            </a:pPr>
            <a:r>
              <a:t>Không đủ lịch sử hoặc trung bình = 0: không đánh giá tăng theo phần trăm.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01  PHÂN TÍCH YÊU CẦU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Luồng quyết toán trả phòng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194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Chọn hợp đồng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và ngày trả</a:t>
            </a:r>
          </a:p>
        </p:txBody>
      </p:sp>
      <p:sp>
        <p:nvSpPr>
          <p:cNvPr id="10" name="Diamond 9"/>
          <p:cNvSpPr/>
          <p:nvPr/>
        </p:nvSpPr>
        <p:spPr>
          <a:xfrm>
            <a:off x="3200400" y="1737360"/>
            <a:ext cx="2560320" cy="1097280"/>
          </a:xfrm>
          <a:prstGeom prst="diamond">
            <a:avLst/>
          </a:prstGeom>
          <a:solidFill>
            <a:srgbClr val="F0F3F5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783080"/>
            <a:ext cx="2121408" cy="10058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50" b="0">
                <a:solidFill>
                  <a:srgbClr val="17212B"/>
                </a:solidFill>
                <a:latin typeface="Arial"/>
              </a:defRPr>
            </a:pPr>
            <a:r>
              <a:t>Có quyền, hợp lệ,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17212B"/>
                </a:solidFill>
                <a:latin typeface="Arial"/>
              </a:defRPr>
            </a:pPr>
            <a:r>
              <a:t>chưa quyết toán?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Chốt chỉ số;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hoàn tất các kỳ</a:t>
            </a:r>
          </a:p>
        </p:txBody>
      </p:sp>
      <p:sp>
        <p:nvSpPr>
          <p:cNvPr id="14" name="Diamond 13"/>
          <p:cNvSpPr/>
          <p:nvPr/>
        </p:nvSpPr>
        <p:spPr>
          <a:xfrm>
            <a:off x="9144000" y="1737360"/>
            <a:ext cx="2560320" cy="1097280"/>
          </a:xfrm>
          <a:prstGeom prst="diamond">
            <a:avLst/>
          </a:prstGeom>
          <a:solidFill>
            <a:srgbClr val="F0F3F5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1783080"/>
            <a:ext cx="2121408" cy="10058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Đủ hóa đơn,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khớp dữ liệu?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286000"/>
            <a:ext cx="45720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2286000"/>
            <a:ext cx="45720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60720" y="1965960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9659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Có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0" y="2286000"/>
            <a:ext cx="54864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200400" y="333756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383279"/>
            <a:ext cx="2377439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Dừng; thông báo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lý do cụ thể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333756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383279"/>
            <a:ext cx="2377439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Dừng; bổ sung</a:t>
            </a:r>
          </a:p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hoặc kiểm tra lại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80560" y="2834640"/>
            <a:ext cx="0" cy="50292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572000" y="3017520"/>
            <a:ext cx="594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017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Không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424160" y="2834640"/>
            <a:ext cx="0" cy="50292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0561320" y="3017520"/>
            <a:ext cx="594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61320" y="3017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Không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4343400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38912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800" b="0">
                <a:solidFill>
                  <a:srgbClr val="17212B"/>
                </a:solidFill>
                <a:latin typeface="Arial"/>
              </a:defRPr>
            </a:pPr>
            <a:r>
              <a:t>Cọc − Thiệt hại − Nợ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704320" y="2286000"/>
            <a:ext cx="18288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887200" y="2286000"/>
            <a:ext cx="0" cy="2395728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915400" y="4681728"/>
            <a:ext cx="297180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1155680" y="4434840"/>
            <a:ext cx="457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5680" y="44348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Có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486400"/>
            <a:ext cx="3383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32120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800" b="0">
                <a:solidFill>
                  <a:srgbClr val="17212B"/>
                </a:solidFill>
                <a:latin typeface="Arial"/>
              </a:defRPr>
            </a:pPr>
            <a:r>
              <a:t>Dương: hoàn tiền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5486400"/>
            <a:ext cx="3383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59" y="5532120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17212B"/>
                </a:solidFill>
                <a:latin typeface="Arial"/>
              </a:defRPr>
            </a:pPr>
            <a:r>
              <a:t>Bằng 0: không hoàn / thu thêm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5486400"/>
            <a:ext cx="3383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28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19" y="5532120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700" b="0">
                <a:solidFill>
                  <a:srgbClr val="17212B"/>
                </a:solidFill>
                <a:latin typeface="Arial"/>
              </a:defRPr>
            </a:pPr>
            <a:r>
              <a:t>Âm: ghi nhận phải thu thêm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98079" y="5029200"/>
            <a:ext cx="0" cy="201168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286000" y="5230368"/>
            <a:ext cx="5212079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286000" y="5230368"/>
            <a:ext cx="0" cy="256032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6080760" y="5230368"/>
            <a:ext cx="1417319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80760" y="5230368"/>
            <a:ext cx="0" cy="256032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498079" y="5230368"/>
            <a:ext cx="2377441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875520" y="5230368"/>
            <a:ext cx="0" cy="256032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1520" y="617220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59636E"/>
                </a:solidFill>
                <a:latin typeface="Arial"/>
              </a:defRPr>
            </a:pPr>
            <a:r>
              <a:t>Cấn cọc không phải tiền thu mới. Phần nợ chưa được thanh toán vẫn được giữ lại.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01  PHÂN TÍCH YÊU CẦU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Quy tắc nghiệp vụ chính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>
                <a:solidFill>
                  <a:srgbClr val="17212B"/>
                </a:solidFill>
                <a:latin typeface="Arial"/>
              </a:defRPr>
            </a:pPr>
            <a:r>
              <a:t>• Khoảng cư trú [ngày vào, ngày ra): trả ngày 16 thì tính đến hết ngày 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>
                <a:solidFill>
                  <a:srgbClr val="17212B"/>
                </a:solidFill>
                <a:latin typeface="Arial"/>
              </a:defRPr>
            </a:pPr>
            <a:r>
              <a:t>• Phí tháng tính theo ngày ở/ngày-người; điện nước tính chênh chỉ số.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28416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>
                <a:solidFill>
                  <a:srgbClr val="17212B"/>
                </a:solidFill>
                <a:latin typeface="Arial"/>
              </a:defRPr>
            </a:pPr>
            <a:r>
              <a:t>• Đơn giá lấy tại đầu kỳ; một hợp đồng có tối đa một hóa đơn mỗi kỳ.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9664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>
                <a:solidFill>
                  <a:srgbClr val="17212B"/>
                </a:solidFill>
                <a:latin typeface="Arial"/>
              </a:defRPr>
            </a:pPr>
            <a:r>
              <a:t>• Hóa đơn đã phát hành giữ nguyên; mỗi lần thu phải dương và không vượt nợ.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>
                <a:solidFill>
                  <a:srgbClr val="17212B"/>
                </a:solidFill>
                <a:latin typeface="Arial"/>
              </a:defRPr>
            </a:pPr>
            <a:r>
              <a:t>• Cọc trừ thiệt hại, sau đó cấn công nợ; không trừ điện nước hai lần.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Mô hình dữ liệu: 17 bảng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Nhóm dữ liệu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Các bảng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Tài khoản và phân công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users, employee_assignments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Khu và phòng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properties, rooms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Người thuê và hợp đồng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tenant_profiles, contracts, contract_members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Dịch vụ và điện nước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service_items, service_price_configs, meter_readings, consumption_alerts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Hóa đơn và quyết toán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invoices, invoice_items, payment_transactions, checkout_records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Sự cố và ảnh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maintenance_requests, maintenance_images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284A63"/>
                </a:solidFill>
                <a:latin typeface="Arial"/>
              </a:defRPr>
            </a:pPr>
            <a:r>
              <a:t>138 cột • 17 PK • 28 FK • 55 CHECK • 2 EXCLUDE • 6 view tính toán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ERD — khu nhà, người thuê và hợp đồng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007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048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UQ  property_code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645920"/>
            <a:ext cx="2834640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459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7007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rooms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048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property_id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7249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room_code; max_occupants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164592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16459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7007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contracts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048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room_id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7249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primary_tenant_id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0449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start_date; end_date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4160520"/>
            <a:ext cx="2834640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58200" y="41605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4215383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tenant_profiles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59943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91947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FK/UQ  user_id (tùy chọn)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52395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full_name; identity_number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416052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41605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215383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contract_members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59943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contract_id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2395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tenant_id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55955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effective_from; effective_to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429000" y="228600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520439" y="198424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39" y="19842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60920" y="228600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452360" y="198424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19842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9875520" y="3566160"/>
            <a:ext cx="0" cy="59436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875520" y="3566160"/>
            <a:ext cx="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875520" y="3383280"/>
            <a:ext cx="0" cy="18288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9966960" y="3634740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36347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7360920" y="480060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7452360" y="449884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44988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509760" y="3383280"/>
            <a:ext cx="0" cy="384048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5943600" y="3767328"/>
            <a:ext cx="356616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943600" y="3767328"/>
            <a:ext cx="0" cy="393192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132320" y="3502152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0" y="35021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080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59636E"/>
                </a:solidFill>
                <a:latin typeface="Arial"/>
              </a:defRPr>
            </a:pPr>
            <a:r>
              <a:t>Một người dùng chung hồ sơ qua nhiều lần cư trú; không sao chép họ tên vào bảng thành viên.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ERD — đơn giá, chỉ số và cảnh báo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007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048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ngưỡng; cửa sổ lịch sử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64592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459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7007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550" b="1">
                <a:solidFill>
                  <a:srgbClr val="17212B"/>
                </a:solidFill>
                <a:latin typeface="Arial"/>
              </a:defRPr>
            </a:pPr>
            <a:r>
              <a:t>service_price_configs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048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property_id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7249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service_item_id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0449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effective_from; unit_price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645920"/>
            <a:ext cx="2834640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58200" y="16459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7007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service_items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4048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UQ  service_code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7249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calculation_type; unit_name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11480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11480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69663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contracts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537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737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room_id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11480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411480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169663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meter_readings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5537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8737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contract_id; service_item_id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51937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billing_period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513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old_index; new_index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411480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58200" y="411480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4169663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consumption_alerts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45537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8737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FK/UQ  meter_reading_id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51937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baseline; ngưỡng áp dụng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5513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status; checked_by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429000" y="228600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520439" y="198424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0439" y="19842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7360920" y="228600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452360" y="198424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19842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429000" y="475488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520439" y="445312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0439" y="44531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60920" y="475488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7452360" y="445312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44531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0..1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875520" y="3063239"/>
            <a:ext cx="0" cy="640081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5943600" y="3703320"/>
            <a:ext cx="393192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943600" y="3703320"/>
            <a:ext cx="0" cy="41148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498079" y="3456432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79" y="345643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ERD — hóa đơn, giao dịch và quyết toán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007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048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giá thuê; cọc thỏa thuận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645920"/>
            <a:ext cx="2834640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459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7007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invoices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048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contract_id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7249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billing_period;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164592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16459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7007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invoice_items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048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invoice_id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7249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service_item_id / reading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0449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giá snapshot; ngày tính phí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114800"/>
            <a:ext cx="2834640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11480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69663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checkout_records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537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737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FK/UQ  contract_id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1937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cọc / nợ snapshot; thiệt hại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4114800"/>
            <a:ext cx="2834640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411480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169663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payment_transactions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5537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8737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invoice_id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1937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amount; payment_method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411480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58200" y="411480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4169663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meter_readings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45537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8737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chỉ số đã được khóa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429000" y="228600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520439" y="198424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39" y="19842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360920" y="228600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452360" y="198424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19842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011680" y="2743200"/>
            <a:ext cx="0" cy="118872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011680" y="3931920"/>
            <a:ext cx="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011680" y="3931920"/>
            <a:ext cx="0" cy="18288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103120" y="3291840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03120" y="32918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0..1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43600" y="3063239"/>
            <a:ext cx="0" cy="868681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943600" y="3931920"/>
            <a:ext cx="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943600" y="3931920"/>
            <a:ext cx="0" cy="18288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035040" y="3451860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34518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9875520" y="3566160"/>
            <a:ext cx="0" cy="54864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875520" y="3566160"/>
            <a:ext cx="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875520" y="3383280"/>
            <a:ext cx="0" cy="18288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9966960" y="3611879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66960" y="361187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0..1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0">
                <a:solidFill>
                  <a:srgbClr val="59636E"/>
                </a:solidFill>
                <a:latin typeface="Arial"/>
              </a:defRPr>
            </a:pPr>
            <a:r>
              <a:t>Tổng tiền, đã thu, công nợ và số quyết toán được tính qua view từ dữ liệu gốc.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Thuộc tính và kiểu dữ liệu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029200"/>
              </a:tblGrid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Dữ liệu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Kiểu lựa chọn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Căn cứ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Khóa nội bộ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BIGINT IDENTITY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Liên kết ổn định bằng PK/FK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Tiền, đơn giá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NUMERIC(12,2)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Thập phân chính xác; làm tròn thành tiền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Chỉ số điện nước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NUMERIC(10,2)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Có thể có phần thập phân; mới ≥ cũ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Điện thoại, giấy tờ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Giữ số 0 đầu; không dùng làm phép tính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Ngày / thời điểm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DATE / TIMESTAMPTZ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Phân biệt ngày nghiệp vụ và thời điểm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Kỳ hóa đơn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DATE ngày đầu tháng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Kiểu ngày hợp lệ; CHECK ngày = 1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Khóa và ràng buộc toàn vẹn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Cơ chế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Quy tắc được bảo vệ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PK + FK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Mọi bảng có định danh; không tham chiếu bản ghi không tồn tại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UNIQUE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Không trùng mã phòng trong khu, hóa đơn/kỳ hoặc mã giao dịch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Tiền hợp lệ; mới ≥ cũ; ngày hợp lệ; trạng thái đúng tập giá trị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EXCLUDE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Không chồng khoảng thuê phòng hoặc khoảng cư trú của cùng thành viên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Trigger + khóa hàng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9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Không thu vượt nợ; không sửa hóa đơn phát hành; kiểm tra liên bảng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Quan hệ và bảng trung gian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79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754880"/>
                <a:gridCol w="3749039"/>
              </a:tblGrid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Quan hệ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Ví dụ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Cách biểu diễn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1–0..1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Tài khoản–hồ sơ; hợp đồng–quyết toán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UNIQUE trên FK; liên kết tùy chọn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1–N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Khu–phòng; hợp đồng–hóa đơn; hóa đơn–giao dịch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FK ở phía nhiều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N–N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Nhân viên–khu nhà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employee_assignments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N–N theo thời gian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Người thuê–hợp đồng ở cùng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contract_members + khoảng cư trú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N–N có lịch sử giá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Khu nhà–dịch vụ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service_price_configs + ngày hiệu lực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Chuẩn hóa dữ liệu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06240"/>
                <a:gridCol w="5120640"/>
              </a:tblGrid>
              <a:tr h="85953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Mức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Vấn đề cần tránh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Cách xử lý trong mô hình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1NF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Nhiều ảnh trong một cột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maintenance_images: mỗi dòng một ảnh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2NF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Thông tin chỉ phụ thuộc một phần khóa ghép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Không lưu họ tên ở thành viên; không lưu room_id ở chỉ số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3NF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Thông tin danh mục lặp qua bảng quan hệ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Hồ sơ người và danh mục dịch vụ lưu tại thực thể riêng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Dữ liệu suy ra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Nhiều cột tổng hợp có thể cập nhật lệch nhau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Tính lượng dùng, thành tiền, công nợ và trạng thái qua view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Phụ thuộc dữ liệu và bảo toàn lịch sử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6309360"/>
              </a:tblGrid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Phụ thuộc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Quyết định thiết kế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tenant_id → thông tin cá nhân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Bảng thành viên chỉ tham chiếu hồ sơ người thuê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contract_id → room_id → property_id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Chỉ số và sự cố truy ra khu/phòng qua hợp đồng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Chỉ số mới − chỉ số cũ → lượng dùng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Tính lượng dùng; không nhập lại tại cảnh báo/hóa đơn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Dòng hóa đơn + giao dịch → công nợ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5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Một view tính tổng, đã thu và số còn nợ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253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284A63"/>
                </a:solidFill>
                <a:latin typeface="Arial"/>
              </a:defRPr>
            </a:pPr>
            <a:r>
              <a:t>Tên, đơn vị và giá snapshot là dữ kiện tại lúc lập hóa đơn; không đổi theo danh mục hiện tại.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Đối chiếu nghiệp vụ và kiểm tra dữ liệu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8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023360"/>
                <a:gridCol w="4846320"/>
              </a:tblGrid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Nghiệp vụ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Dữ liệu chính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Tình huống đã kiểm tra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Lập hợp đồng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rooms, contracts, contract_members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Chồng thời gian; phòng bảo trì; vượt sức chứa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Lập/phát hành hóa đơn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meter_readings, invoices, invoice_items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Trùng kỳ; cảnh báo PENDING; sai chỉ số tham chiếu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Thu tiền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invoices, payment_transactions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Tiền âm; trùng giao dịch; thu vượt công nợ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Trả phòng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checkout_records và giao dịch cấn cọc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Snapshot trước cấn; không tính điện nước hai lần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Gửi sự cố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maintenance_requests, maintenance_images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7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Sai người gửi; sai người đính kèm; ảnh rỗng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0533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600" b="1">
                <a:solidFill>
                  <a:srgbClr val="284A63"/>
                </a:solidFill>
                <a:latin typeface="Arial"/>
              </a:defRPr>
            </a:pPr>
            <a:r>
              <a:t>PostgreSQL: 40 ca đạt; thu đồng thời 600 + 600 trên nợ 1.000 → nhận một lần, còn 400.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02 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Ví dụ hóa đơn và quyết toán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54480"/>
          <a:ext cx="10972800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931920"/>
                <a:gridCol w="2468880"/>
              </a:tblGrid>
              <a:tr h="53949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Khoản thu — ở đủ tháng 09/2026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Công thức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Thành tiền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Tiền phòng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3.000.000 × 30/30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3.000.000 đ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Điện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(1.120 − 1.000) × 3.500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420.000 đ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Nước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(128 − 120) × 20.000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160.000 đ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Internet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100.000 × 30/30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100.000 đ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Tổng hóa đơn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3.680.000 đ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029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17212B"/>
                </a:solidFill>
                <a:latin typeface="Arial"/>
              </a:defRPr>
            </a:pPr>
            <a:r>
              <a:t>Đã thu 2.000.000 đ → còn nợ 1.680.000 đ.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900" b="0">
                <a:solidFill>
                  <a:srgbClr val="284A63"/>
                </a:solidFill>
                <a:latin typeface="Arial"/>
              </a:defRPr>
            </a:pPr>
            <a:r>
              <a:t>Cọc 3.000.000 − thiệt hại 200.000 − nợ 1.680.000 = hoàn 1.120.000 đ.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THÀNH VIÊN NHÓM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Phân công thực hiện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  <a:gridCol w="2377440"/>
                <a:gridCol w="1645920"/>
              </a:tblGrid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Họ tên — MSSV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Phần việc thực hiện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Minh chứng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Đóng góp</a:t>
                      </a:r>
                    </a:p>
                  </a:txBody>
                  <a:tcPr marL="118872" marR="118872" marT="54864" marB="54864" anchor="ctr">
                    <a:solidFill>
                      <a:srgbClr val="284A6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……………………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………………………………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Tài liệu / commit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 %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……………………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………………………………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Tài liệu / commit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 %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……………………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………………………………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Tài liệu / commit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 %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……………………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………………………………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Tài liệu / commit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  <a:defRPr sz="1800" b="0">
                          <a:solidFill>
                            <a:srgbClr val="17212B"/>
                          </a:solidFill>
                          <a:latin typeface="Arial"/>
                        </a:defRPr>
                      </a:pPr>
                      <a:r>
                        <a:t>…… %</a:t>
                      </a:r>
                    </a:p>
                  </a:txBody>
                  <a:tcPr marL="118872" marR="11887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7212B"/>
                </a:solidFill>
                <a:latin typeface="Arial"/>
              </a:defRPr>
            </a:pPr>
            <a:r>
              <a:t>Tổng tỷ lệ đóng góp: 100%.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050" b="1">
                <a:solidFill>
                  <a:srgbClr val="284A63"/>
                </a:solidFill>
                <a:latin typeface="Arial"/>
              </a:defRPr>
            </a:pPr>
            <a:r>
              <a:t>PHỤ LỤC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7212B"/>
                </a:solidFill>
                <a:latin typeface="Arial"/>
              </a:defRPr>
            </a:pPr>
            <a:r>
              <a:t>ERD — yêu cầu sửa chữa và ảnh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28232"/>
            <a:ext cx="11045952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3796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QUẢN LÝ NHÀ TRỌ  |  PHÂN TÍCH YÊU CẦU VÀ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8366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primary_tenant_id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82880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88366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maintenance_requests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677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877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contract_id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90779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submitted_by; assigned_to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27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title; priority;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82880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58200" y="182880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88366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maintenance_images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2677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5877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maintenance_request_id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90779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FK  uploaded_by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227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url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438912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4389120"/>
            <a:ext cx="2834640" cy="347472"/>
          </a:xfrm>
          <a:prstGeom prst="rect">
            <a:avLst/>
          </a:prstGeom>
          <a:solidFill>
            <a:srgbClr val="F0F3F5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443983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7212B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82803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PK 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14807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17212B"/>
                </a:solidFill>
                <a:latin typeface="Arial"/>
              </a:defRPr>
            </a:pPr>
            <a:r>
              <a:t>role; status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429000" y="246888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520439" y="216712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39" y="21671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60920" y="2468880"/>
            <a:ext cx="1097280" cy="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452360" y="2167128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1671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5943600" y="3749039"/>
            <a:ext cx="0" cy="640081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943600" y="3749039"/>
            <a:ext cx="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943600" y="3566160"/>
            <a:ext cx="0" cy="182879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035040" y="3840479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384047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360920" y="5029200"/>
            <a:ext cx="2514600" cy="0"/>
          </a:xfrm>
          <a:prstGeom prst="line">
            <a:avLst/>
          </a:prstGeom>
          <a:ln w="14604">
            <a:solidFill>
              <a:srgbClr val="5963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875520" y="3566160"/>
            <a:ext cx="0" cy="1463040"/>
          </a:xfrm>
          <a:prstGeom prst="line">
            <a:avLst/>
          </a:prstGeom>
          <a:ln w="14604">
            <a:solidFill>
              <a:srgbClr val="59636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321040" y="4736592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7365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59636E"/>
                </a:solidFill>
                <a:latin typeface="Arial"/>
              </a:defRPr>
            </a:pPr>
            <a:r>
              <a:t>1 : 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0">
                <a:solidFill>
                  <a:srgbClr val="59636E"/>
                </a:solidFill>
                <a:latin typeface="Arial"/>
              </a:defRPr>
            </a:pPr>
            <a:r>
              <a:t>Không lưu lại khu/phòng ở sự cố; mỗi ảnh có bản ghi và người đính kèm riêng.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nhà trọ — Phân tích yêu cầu và thiết kế CSDL</dc:title>
  <dc:subject>Thiết kế mục tiêu 17 bảng — hồ sơ bước 1–2</dc:subject>
  <dc:creator>Nhóm thực hiện</dc:creator>
  <cp:keywords>quản lý nhà trọ, yêu cầu nghiệp vụ, ERD, chuẩn hóa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